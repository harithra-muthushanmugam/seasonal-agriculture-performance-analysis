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4" r:id="rId12"/>
    <p:sldId id="345"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186E03-E3E8-4D73-80FF-16E999540CE8}" v="1" dt="2026-09-15T13:40:37.51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8" d="100"/>
          <a:sy n="78" d="100"/>
        </p:scale>
        <p:origin x="77" y="451"/>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thrathelearner@outlook.com" userId="ae8cdba5f3213de3" providerId="LiveId" clId="{1F9C8129-88E7-4A01-A8F4-EC519B30A4A8}"/>
    <pc:docChg chg="modSld">
      <pc:chgData name="harithrathelearner@outlook.com" userId="ae8cdba5f3213de3" providerId="LiveId" clId="{1F9C8129-88E7-4A01-A8F4-EC519B30A4A8}" dt="2026-09-15T13:40:46.064" v="9" actId="20577"/>
      <pc:docMkLst>
        <pc:docMk/>
      </pc:docMkLst>
      <pc:sldChg chg="modSp mod">
        <pc:chgData name="harithrathelearner@outlook.com" userId="ae8cdba5f3213de3" providerId="LiveId" clId="{1F9C8129-88E7-4A01-A8F4-EC519B30A4A8}" dt="2026-09-15T13:40:46.064" v="9" actId="20577"/>
        <pc:sldMkLst>
          <pc:docMk/>
          <pc:sldMk cId="3863610428" sldId="342"/>
        </pc:sldMkLst>
        <pc:spChg chg="mod">
          <ac:chgData name="harithrathelearner@outlook.com" userId="ae8cdba5f3213de3" providerId="LiveId" clId="{1F9C8129-88E7-4A01-A8F4-EC519B30A4A8}" dt="2026-09-15T13:40:46.064" v="9" actId="20577"/>
          <ac:spMkLst>
            <pc:docMk/>
            <pc:sldMk cId="3863610428" sldId="342"/>
            <ac:spMk id="3" creationId="{5F0B37E4-66B1-8633-7266-68B32174275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00033" y="3655498"/>
            <a:ext cx="5900241" cy="861497"/>
          </a:xfrm>
        </p:spPr>
        <p:txBody>
          <a:bodyPr vert="horz" lIns="91440" tIns="45720" rIns="91440" bIns="45720" rtlCol="0" anchor="t">
            <a:normAutofit/>
          </a:bodyPr>
          <a:lstStyle/>
          <a:p>
            <a:pPr algn="r"/>
            <a:r>
              <a:rPr lang="en-US" b="0" dirty="0">
                <a:solidFill>
                  <a:schemeClr val="tx1"/>
                </a:solidFill>
              </a:rPr>
              <a:t>[</a:t>
            </a:r>
            <a:r>
              <a:rPr lang="en-US" b="0" dirty="0" err="1">
                <a:solidFill>
                  <a:schemeClr val="tx1"/>
                </a:solidFill>
              </a:rPr>
              <a:t>Harithra</a:t>
            </a:r>
            <a:r>
              <a:rPr lang="en-US" b="0" dirty="0">
                <a:solidFill>
                  <a:schemeClr val="tx1"/>
                </a:solidFill>
              </a:rPr>
              <a:t> </a:t>
            </a:r>
            <a:r>
              <a:rPr lang="en-US" b="0" dirty="0" err="1">
                <a:solidFill>
                  <a:schemeClr val="tx1"/>
                </a:solidFill>
              </a:rPr>
              <a:t>Muthushanmugam</a:t>
            </a:r>
            <a:r>
              <a:rPr lang="en-US" b="0" dirty="0">
                <a:solidFill>
                  <a:schemeClr val="tx1"/>
                </a:solidFill>
              </a:rPr>
              <a:t> </a:t>
            </a:r>
            <a:endParaRPr lang="en-IN" b="0" dirty="0">
              <a:solidFill>
                <a:schemeClr val="tx1"/>
              </a:solidFill>
            </a:endParaRPr>
          </a:p>
          <a:p>
            <a:pPr algn="r"/>
            <a:r>
              <a:rPr lang="en-US" b="0" dirty="0">
                <a:solidFill>
                  <a:schemeClr val="tx1"/>
                </a:solidFill>
              </a:rPr>
              <a:t>PSNA College of Engineering and Technology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827795"/>
            <a:ext cx="9596604" cy="743448"/>
          </a:xfrm>
        </p:spPr>
        <p:txBody>
          <a:bodyPr>
            <a:normAutofit/>
          </a:bodyPr>
          <a:lstStyle/>
          <a:p>
            <a:r>
              <a:rPr lang="en-GB" sz="3200" dirty="0"/>
              <a:t>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64899" y="4601250"/>
            <a:ext cx="6389879" cy="369332"/>
          </a:xfrm>
          <a:prstGeom prst="rect">
            <a:avLst/>
          </a:prstGeom>
          <a:noFill/>
        </p:spPr>
        <p:txBody>
          <a:bodyPr wrap="square" rtlCol="0">
            <a:spAutoFit/>
          </a:bodyPr>
          <a:lstStyle/>
          <a:p>
            <a:r>
              <a:rPr lang="en-US" b="1" dirty="0"/>
              <a:t>AICTE STU ID : (STU6a3e692cf1ffd1782475052)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31536" y="193040"/>
            <a:ext cx="6276109" cy="830997"/>
          </a:xfrm>
        </p:spPr>
        <p:txBody>
          <a:bodyPr>
            <a:normAutofit fontScale="90000"/>
          </a:bodyPr>
          <a:lstStyle/>
          <a:p>
            <a:r>
              <a:rPr lang="en-GB" dirty="0"/>
              <a:t>Project Description</a:t>
            </a:r>
            <a:br>
              <a:rPr lang="en-GB" dirty="0"/>
            </a:br>
            <a:br>
              <a:rPr lang="en-GB" dirty="0"/>
            </a:br>
            <a:endParaRPr lang="en-IN" sz="13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6C2A268-4F35-F6FB-7A34-B1F64F5DFA3B}"/>
              </a:ext>
            </a:extLst>
          </p:cNvPr>
          <p:cNvSpPr txBox="1"/>
          <p:nvPr/>
        </p:nvSpPr>
        <p:spPr>
          <a:xfrm>
            <a:off x="331536" y="1085496"/>
            <a:ext cx="6100010" cy="738664"/>
          </a:xfrm>
          <a:prstGeom prst="rect">
            <a:avLst/>
          </a:prstGeom>
          <a:noFill/>
        </p:spPr>
        <p:txBody>
          <a:bodyPr wrap="square">
            <a:spAutoFit/>
          </a:bodyPr>
          <a:lstStyle/>
          <a:p>
            <a:pPr algn="just"/>
            <a:r>
              <a:rPr lang="en-IN" sz="1400" b="1" dirty="0"/>
              <a:t>Objective:</a:t>
            </a:r>
            <a:r>
              <a:rPr lang="en-IN" sz="1400" dirty="0"/>
              <a:t> </a:t>
            </a:r>
            <a:r>
              <a:rPr lang="en-IN" sz="1400" dirty="0" err="1"/>
              <a:t>Analyze</a:t>
            </a:r>
            <a:r>
              <a:rPr lang="en-IN" sz="1400" dirty="0"/>
              <a:t> seasonal variation in agricultural performance (yield, profit, water efficiency, and resource usage) across Kharif, Rabi, and Zaid seasons. </a:t>
            </a:r>
          </a:p>
        </p:txBody>
      </p:sp>
      <p:sp>
        <p:nvSpPr>
          <p:cNvPr id="9" name="TextBox 8">
            <a:extLst>
              <a:ext uri="{FF2B5EF4-FFF2-40B4-BE49-F238E27FC236}">
                <a16:creationId xmlns:a16="http://schemas.microsoft.com/office/drawing/2014/main" id="{F4116D0B-F297-2551-367A-F1A624BEBFA6}"/>
              </a:ext>
            </a:extLst>
          </p:cNvPr>
          <p:cNvSpPr txBox="1"/>
          <p:nvPr/>
        </p:nvSpPr>
        <p:spPr>
          <a:xfrm>
            <a:off x="313792" y="1824160"/>
            <a:ext cx="6100010" cy="523220"/>
          </a:xfrm>
          <a:prstGeom prst="rect">
            <a:avLst/>
          </a:prstGeom>
          <a:noFill/>
        </p:spPr>
        <p:txBody>
          <a:bodyPr wrap="square">
            <a:spAutoFit/>
          </a:bodyPr>
          <a:lstStyle/>
          <a:p>
            <a:pPr algn="just"/>
            <a:r>
              <a:rPr lang="en-IN" sz="1400" b="1" dirty="0"/>
              <a:t>Dataset Scope:</a:t>
            </a:r>
            <a:r>
              <a:rPr lang="en-IN" sz="1400" dirty="0"/>
              <a:t> 4,000 farm records containing environmental conditions, soil metrics, input usage, crop outcomes, and economic indicators.</a:t>
            </a:r>
          </a:p>
        </p:txBody>
      </p:sp>
      <p:sp>
        <p:nvSpPr>
          <p:cNvPr id="11" name="TextBox 10">
            <a:extLst>
              <a:ext uri="{FF2B5EF4-FFF2-40B4-BE49-F238E27FC236}">
                <a16:creationId xmlns:a16="http://schemas.microsoft.com/office/drawing/2014/main" id="{5B271FFF-E2C9-AFED-DF67-EC5A79814E12}"/>
              </a:ext>
            </a:extLst>
          </p:cNvPr>
          <p:cNvSpPr txBox="1"/>
          <p:nvPr/>
        </p:nvSpPr>
        <p:spPr>
          <a:xfrm>
            <a:off x="331536" y="2408839"/>
            <a:ext cx="6100010" cy="738664"/>
          </a:xfrm>
          <a:prstGeom prst="rect">
            <a:avLst/>
          </a:prstGeom>
          <a:noFill/>
        </p:spPr>
        <p:txBody>
          <a:bodyPr wrap="square">
            <a:spAutoFit/>
          </a:bodyPr>
          <a:lstStyle/>
          <a:p>
            <a:pPr algn="just"/>
            <a:r>
              <a:rPr lang="en-IN" sz="1400" b="1" dirty="0"/>
              <a:t>Methodology:</a:t>
            </a:r>
            <a:r>
              <a:rPr lang="en-IN" sz="1400" dirty="0"/>
              <a:t> Data cleaning (handling missing values), exploratory data analysis (EDA), and data visualization using Python (Pandas, Matplotlib, Seaborn).</a:t>
            </a:r>
          </a:p>
        </p:txBody>
      </p:sp>
      <p:sp>
        <p:nvSpPr>
          <p:cNvPr id="13" name="TextBox 12">
            <a:extLst>
              <a:ext uri="{FF2B5EF4-FFF2-40B4-BE49-F238E27FC236}">
                <a16:creationId xmlns:a16="http://schemas.microsoft.com/office/drawing/2014/main" id="{7C9F5F8D-50B3-9372-AED7-940DD7957CB4}"/>
              </a:ext>
            </a:extLst>
          </p:cNvPr>
          <p:cNvSpPr txBox="1"/>
          <p:nvPr/>
        </p:nvSpPr>
        <p:spPr>
          <a:xfrm>
            <a:off x="304433" y="3208962"/>
            <a:ext cx="6100010" cy="738664"/>
          </a:xfrm>
          <a:prstGeom prst="rect">
            <a:avLst/>
          </a:prstGeom>
          <a:noFill/>
        </p:spPr>
        <p:txBody>
          <a:bodyPr wrap="square">
            <a:spAutoFit/>
          </a:bodyPr>
          <a:lstStyle/>
          <a:p>
            <a:pPr algn="just"/>
            <a:r>
              <a:rPr lang="en-IN" sz="1400" b="1" dirty="0"/>
              <a:t>Key Findings:</a:t>
            </a:r>
            <a:r>
              <a:rPr lang="en-IN" sz="1400" dirty="0"/>
              <a:t> Kharif yields the highest performance (~5.63 T/Ha yield, ₹31.8 Cr total profit), while Zaid exhibits negative net profitability due to elevated irrigation and temperature stress.</a:t>
            </a:r>
          </a:p>
        </p:txBody>
      </p:sp>
      <p:sp>
        <p:nvSpPr>
          <p:cNvPr id="15" name="TextBox 14">
            <a:extLst>
              <a:ext uri="{FF2B5EF4-FFF2-40B4-BE49-F238E27FC236}">
                <a16:creationId xmlns:a16="http://schemas.microsoft.com/office/drawing/2014/main" id="{2B069F9C-4919-1743-4885-452DC1CEF038}"/>
              </a:ext>
            </a:extLst>
          </p:cNvPr>
          <p:cNvSpPr txBox="1"/>
          <p:nvPr/>
        </p:nvSpPr>
        <p:spPr>
          <a:xfrm>
            <a:off x="304433" y="4009085"/>
            <a:ext cx="6100010" cy="523220"/>
          </a:xfrm>
          <a:prstGeom prst="rect">
            <a:avLst/>
          </a:prstGeom>
          <a:noFill/>
        </p:spPr>
        <p:txBody>
          <a:bodyPr wrap="square">
            <a:spAutoFit/>
          </a:bodyPr>
          <a:lstStyle/>
          <a:p>
            <a:pPr algn="just"/>
            <a:r>
              <a:rPr lang="en-IN" sz="1400" b="1" dirty="0"/>
              <a:t>Outcome:</a:t>
            </a:r>
            <a:r>
              <a:rPr lang="en-IN" sz="1400" dirty="0"/>
              <a:t> Provides evidence-based recommendations to optimize crop planning and resource management across different farming seasons. </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47818" y="1946860"/>
            <a:ext cx="6826451" cy="4229944"/>
          </a:xfrm>
        </p:spPr>
        <p:txBody>
          <a:bodyPr>
            <a:normAutofit/>
          </a:bodyPr>
          <a:lstStyle/>
          <a:p>
            <a:pPr algn="just">
              <a:lnSpc>
                <a:spcPct val="100000"/>
              </a:lnSpc>
            </a:pPr>
            <a:r>
              <a:rPr lang="en-IN" sz="1800" b="1" dirty="0"/>
              <a:t>Agricultural Stakeholders &amp; Policymakers:</a:t>
            </a:r>
            <a:r>
              <a:rPr lang="en-IN" sz="1800" dirty="0"/>
              <a:t> Government agencies and agricultural departments seeking data-driven insights for evidence-based seasonal crop planning and resource distribution.</a:t>
            </a:r>
          </a:p>
          <a:p>
            <a:pPr algn="just">
              <a:lnSpc>
                <a:spcPct val="100000"/>
              </a:lnSpc>
            </a:pPr>
            <a:r>
              <a:rPr lang="en-IN" sz="1800" b="1" dirty="0"/>
              <a:t>Farmers &amp; Local Producers:</a:t>
            </a:r>
            <a:r>
              <a:rPr lang="en-IN" sz="1800" dirty="0"/>
              <a:t> Agricultural decision-makers looking to optimize crop selection, reduce irrigation costs, and maximize seasonal profits. </a:t>
            </a:r>
          </a:p>
          <a:p>
            <a:pPr algn="just">
              <a:lnSpc>
                <a:spcPct val="100000"/>
              </a:lnSpc>
            </a:pPr>
            <a:r>
              <a:rPr lang="en-IN" sz="1800" b="1" dirty="0"/>
              <a:t>Agricultural Researchers &amp; Data Analysts:</a:t>
            </a:r>
            <a:r>
              <a:rPr lang="en-IN" sz="1800" dirty="0"/>
              <a:t> Researchers evaluating the impact of environmental factors, seasonal variations, and irrigation efficiency on crop yield. </a:t>
            </a:r>
          </a:p>
          <a:p>
            <a:pPr algn="just">
              <a:lnSpc>
                <a:spcPct val="100000"/>
              </a:lnSpc>
            </a:pPr>
            <a:r>
              <a:rPr lang="en-IN" sz="1800" b="1" dirty="0"/>
              <a:t>Supply Chain &amp; Market Analysts:</a:t>
            </a:r>
            <a:r>
              <a:rPr lang="en-IN" sz="1800" dirty="0"/>
              <a:t> Economic planners tracking production trends across seasons to manage market pricing and distribution logistics. </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323229" y="1053080"/>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18674" y="1432560"/>
            <a:ext cx="8399646" cy="5243448"/>
          </a:xfrm>
        </p:spPr>
        <p:txBody>
          <a:bodyPr/>
          <a:lstStyle/>
          <a:p>
            <a:pPr lvl="1">
              <a:lnSpc>
                <a:spcPct val="100000"/>
              </a:lnSpc>
            </a:pPr>
            <a:r>
              <a:rPr lang="en-IN" b="1" dirty="0"/>
              <a:t>Programming Language:</a:t>
            </a:r>
            <a:r>
              <a:rPr lang="en-IN" dirty="0"/>
              <a:t> Python 3.x (Core language used for data manipulation, cleaning, and statistical calculations)</a:t>
            </a:r>
          </a:p>
          <a:p>
            <a:pPr lvl="1">
              <a:lnSpc>
                <a:spcPct val="100000"/>
              </a:lnSpc>
            </a:pPr>
            <a:r>
              <a:rPr lang="en-IN" b="1" dirty="0"/>
              <a:t>Environment &amp; Tools:</a:t>
            </a:r>
            <a:r>
              <a:rPr lang="en-IN" dirty="0"/>
              <a:t> Google </a:t>
            </a:r>
            <a:r>
              <a:rPr lang="en-IN" dirty="0" err="1"/>
              <a:t>Colab</a:t>
            </a:r>
            <a:r>
              <a:rPr lang="en-IN" dirty="0"/>
              <a:t> / Jupyter Notebook (Interactive development environment for writing and executing code)</a:t>
            </a:r>
          </a:p>
          <a:p>
            <a:pPr lvl="1">
              <a:lnSpc>
                <a:spcPct val="100000"/>
              </a:lnSpc>
            </a:pPr>
            <a:r>
              <a:rPr lang="en-IN" b="1" dirty="0"/>
              <a:t>Data Manipulation &amp; Analysis:</a:t>
            </a:r>
            <a:r>
              <a:rPr lang="en-IN" dirty="0"/>
              <a:t> Pandas &amp; NumPy (Used for loading CSV datasets, handling missing values, grouping, and aggregations) </a:t>
            </a:r>
          </a:p>
          <a:p>
            <a:pPr lvl="1">
              <a:lnSpc>
                <a:spcPct val="100000"/>
              </a:lnSpc>
            </a:pPr>
            <a:r>
              <a:rPr lang="en-IN" b="1" dirty="0"/>
              <a:t>Data Visualization:</a:t>
            </a:r>
            <a:r>
              <a:rPr lang="en-IN" dirty="0"/>
              <a:t> Matplotlib &amp; Seaborn (Used for generating bar plots, scatter plots, box plots, and visual distribution analysis) </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711733" y="1851731"/>
            <a:ext cx="5620569" cy="666078"/>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IN" sz="1800" b="1" dirty="0"/>
              <a:t>Kharif Season (Peak Performance):</a:t>
            </a:r>
            <a:r>
              <a:rPr lang="en-IN" sz="1800" dirty="0"/>
              <a:t> Generates the highest average yield (5.63 Tonnes/Ha) and total profit (₹31.83 Crores) supported by high natural rainfall (849.2 mm). </a:t>
            </a:r>
            <a:endParaRPr lang="en-GB" sz="18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FE1E2B94-83DB-E483-9744-510674E2CDAC}"/>
              </a:ext>
            </a:extLst>
          </p:cNvPr>
          <p:cNvSpPr txBox="1"/>
          <p:nvPr/>
        </p:nvSpPr>
        <p:spPr>
          <a:xfrm>
            <a:off x="675956" y="1249329"/>
            <a:ext cx="6100010" cy="369332"/>
          </a:xfrm>
          <a:prstGeom prst="rect">
            <a:avLst/>
          </a:prstGeom>
          <a:noFill/>
        </p:spPr>
        <p:txBody>
          <a:bodyPr wrap="square">
            <a:spAutoFit/>
          </a:bodyPr>
          <a:lstStyle/>
          <a:p>
            <a:r>
              <a:rPr lang="en-IN" dirty="0"/>
              <a:t>Key Analytical Findings</a:t>
            </a:r>
          </a:p>
        </p:txBody>
      </p:sp>
      <p:sp>
        <p:nvSpPr>
          <p:cNvPr id="9" name="TextBox 8">
            <a:extLst>
              <a:ext uri="{FF2B5EF4-FFF2-40B4-BE49-F238E27FC236}">
                <a16:creationId xmlns:a16="http://schemas.microsoft.com/office/drawing/2014/main" id="{C8EDE68B-488A-CE27-5BB4-F793CE30450E}"/>
              </a:ext>
            </a:extLst>
          </p:cNvPr>
          <p:cNvSpPr txBox="1"/>
          <p:nvPr/>
        </p:nvSpPr>
        <p:spPr>
          <a:xfrm>
            <a:off x="675956" y="3094169"/>
            <a:ext cx="6100010" cy="923330"/>
          </a:xfrm>
          <a:prstGeom prst="rect">
            <a:avLst/>
          </a:prstGeom>
          <a:noFill/>
        </p:spPr>
        <p:txBody>
          <a:bodyPr wrap="square">
            <a:spAutoFit/>
          </a:bodyPr>
          <a:lstStyle/>
          <a:p>
            <a:pPr algn="just"/>
            <a:r>
              <a:rPr lang="en-IN" b="1" dirty="0"/>
              <a:t>Rabi Season (Moderate Performance):</a:t>
            </a:r>
            <a:r>
              <a:rPr lang="en-IN" dirty="0"/>
              <a:t> Delivers stable yields (5.04 Tonnes/Ha) and positive profit returns (₹14.27 Crores) with moderate resource inputs.</a:t>
            </a:r>
          </a:p>
        </p:txBody>
      </p:sp>
      <p:sp>
        <p:nvSpPr>
          <p:cNvPr id="11" name="TextBox 10">
            <a:extLst>
              <a:ext uri="{FF2B5EF4-FFF2-40B4-BE49-F238E27FC236}">
                <a16:creationId xmlns:a16="http://schemas.microsoft.com/office/drawing/2014/main" id="{AE12734B-45E4-60F7-76EC-469E40A15339}"/>
              </a:ext>
            </a:extLst>
          </p:cNvPr>
          <p:cNvSpPr txBox="1"/>
          <p:nvPr/>
        </p:nvSpPr>
        <p:spPr>
          <a:xfrm>
            <a:off x="675956" y="4118871"/>
            <a:ext cx="6100010" cy="1200329"/>
          </a:xfrm>
          <a:prstGeom prst="rect">
            <a:avLst/>
          </a:prstGeom>
          <a:noFill/>
        </p:spPr>
        <p:txBody>
          <a:bodyPr wrap="square">
            <a:spAutoFit/>
          </a:bodyPr>
          <a:lstStyle/>
          <a:p>
            <a:pPr algn="just"/>
            <a:r>
              <a:rPr lang="en-IN" b="1" dirty="0"/>
              <a:t>Zaid Season (Low Performance / Deficit):</a:t>
            </a:r>
            <a:r>
              <a:rPr lang="en-IN" dirty="0"/>
              <a:t> Shows lowest yields (4.64 Tonnes/Ha) and overall negative net profit (-₹1.47 Crores) due to high irrigation costs during dry periods. </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256697" y="401308"/>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A14E963-5AB8-07F4-4C2B-3ABA6799CC2A}"/>
              </a:ext>
            </a:extLst>
          </p:cNvPr>
          <p:cNvPicPr>
            <a:picLocks noChangeAspect="1"/>
          </p:cNvPicPr>
          <p:nvPr/>
        </p:nvPicPr>
        <p:blipFill>
          <a:blip r:embed="rId3"/>
          <a:stretch>
            <a:fillRect/>
          </a:stretch>
        </p:blipFill>
        <p:spPr>
          <a:xfrm>
            <a:off x="320982" y="1345561"/>
            <a:ext cx="10347018" cy="2156414"/>
          </a:xfrm>
          <a:prstGeom prst="rect">
            <a:avLst/>
          </a:prstGeom>
        </p:spPr>
      </p:pic>
      <p:pic>
        <p:nvPicPr>
          <p:cNvPr id="9" name="Picture 8">
            <a:extLst>
              <a:ext uri="{FF2B5EF4-FFF2-40B4-BE49-F238E27FC236}">
                <a16:creationId xmlns:a16="http://schemas.microsoft.com/office/drawing/2014/main" id="{CB83AED4-9578-6741-828F-410B3CD7DF27}"/>
              </a:ext>
            </a:extLst>
          </p:cNvPr>
          <p:cNvPicPr>
            <a:picLocks noChangeAspect="1"/>
          </p:cNvPicPr>
          <p:nvPr/>
        </p:nvPicPr>
        <p:blipFill>
          <a:blip r:embed="rId4"/>
          <a:stretch>
            <a:fillRect/>
          </a:stretch>
        </p:blipFill>
        <p:spPr>
          <a:xfrm>
            <a:off x="320982" y="3572165"/>
            <a:ext cx="5775018" cy="206079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420318" y="11598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30B675A7-8B8B-C568-839B-DAA5C62F771D}"/>
              </a:ext>
            </a:extLst>
          </p:cNvPr>
          <p:cNvPicPr>
            <a:picLocks noChangeAspect="1"/>
          </p:cNvPicPr>
          <p:nvPr/>
        </p:nvPicPr>
        <p:blipFill>
          <a:blip r:embed="rId3"/>
          <a:stretch>
            <a:fillRect/>
          </a:stretch>
        </p:blipFill>
        <p:spPr>
          <a:xfrm>
            <a:off x="560439" y="946984"/>
            <a:ext cx="7128816" cy="569128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269302"/>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4F6C5A2A-B5D8-DCC0-3BE2-956303BF0C14}"/>
              </a:ext>
            </a:extLst>
          </p:cNvPr>
          <p:cNvPicPr>
            <a:picLocks noChangeAspect="1"/>
          </p:cNvPicPr>
          <p:nvPr/>
        </p:nvPicPr>
        <p:blipFill>
          <a:blip r:embed="rId3"/>
          <a:stretch>
            <a:fillRect/>
          </a:stretch>
        </p:blipFill>
        <p:spPr>
          <a:xfrm>
            <a:off x="675958" y="1100299"/>
            <a:ext cx="8294952" cy="5241508"/>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92BC82F5-7681-E5F8-3EBF-5D8054F06570}"/>
              </a:ext>
            </a:extLst>
          </p:cNvPr>
          <p:cNvSpPr txBox="1"/>
          <p:nvPr/>
        </p:nvSpPr>
        <p:spPr>
          <a:xfrm>
            <a:off x="732055" y="1041032"/>
            <a:ext cx="8713849" cy="923330"/>
          </a:xfrm>
          <a:prstGeom prst="rect">
            <a:avLst/>
          </a:prstGeom>
          <a:noFill/>
        </p:spPr>
        <p:txBody>
          <a:bodyPr wrap="square">
            <a:spAutoFit/>
          </a:bodyPr>
          <a:lstStyle/>
          <a:p>
            <a:pPr algn="just"/>
            <a:r>
              <a:rPr lang="en-IN" b="1" dirty="0"/>
              <a:t>Predictive Machine Learning Models:</a:t>
            </a:r>
            <a:r>
              <a:rPr lang="en-IN" dirty="0"/>
              <a:t> Implement ML algorithms (such as Random Forest or </a:t>
            </a:r>
            <a:r>
              <a:rPr lang="en-IN" dirty="0" err="1"/>
              <a:t>XGBoost</a:t>
            </a:r>
            <a:r>
              <a:rPr lang="en-IN" dirty="0"/>
              <a:t>) to predict crop yields and profitability based on real-time seasonal and weather forecasts.</a:t>
            </a:r>
          </a:p>
        </p:txBody>
      </p:sp>
      <p:sp>
        <p:nvSpPr>
          <p:cNvPr id="9" name="TextBox 8">
            <a:extLst>
              <a:ext uri="{FF2B5EF4-FFF2-40B4-BE49-F238E27FC236}">
                <a16:creationId xmlns:a16="http://schemas.microsoft.com/office/drawing/2014/main" id="{14629B9C-F867-5CC5-F594-16433FFB9284}"/>
              </a:ext>
            </a:extLst>
          </p:cNvPr>
          <p:cNvSpPr txBox="1"/>
          <p:nvPr/>
        </p:nvSpPr>
        <p:spPr>
          <a:xfrm>
            <a:off x="710366" y="1973392"/>
            <a:ext cx="8782677" cy="923330"/>
          </a:xfrm>
          <a:prstGeom prst="rect">
            <a:avLst/>
          </a:prstGeom>
          <a:noFill/>
        </p:spPr>
        <p:txBody>
          <a:bodyPr wrap="square">
            <a:spAutoFit/>
          </a:bodyPr>
          <a:lstStyle/>
          <a:p>
            <a:pPr algn="just"/>
            <a:r>
              <a:rPr lang="en-IN" b="1" dirty="0"/>
              <a:t>IoT &amp; Real-Time Sensor Integration:</a:t>
            </a:r>
            <a:r>
              <a:rPr lang="en-IN" dirty="0"/>
              <a:t> Integrate IoT soil sensors to collect real-time data on soil moisture, pH, and nutrient levels for automated irrigation and fertigation. </a:t>
            </a:r>
          </a:p>
        </p:txBody>
      </p:sp>
      <p:sp>
        <p:nvSpPr>
          <p:cNvPr id="11" name="TextBox 10">
            <a:extLst>
              <a:ext uri="{FF2B5EF4-FFF2-40B4-BE49-F238E27FC236}">
                <a16:creationId xmlns:a16="http://schemas.microsoft.com/office/drawing/2014/main" id="{8180CA25-9CA8-1775-5B23-CD5451D5933D}"/>
              </a:ext>
            </a:extLst>
          </p:cNvPr>
          <p:cNvSpPr txBox="1"/>
          <p:nvPr/>
        </p:nvSpPr>
        <p:spPr>
          <a:xfrm>
            <a:off x="710366" y="2928666"/>
            <a:ext cx="8713852" cy="923330"/>
          </a:xfrm>
          <a:prstGeom prst="rect">
            <a:avLst/>
          </a:prstGeom>
          <a:noFill/>
        </p:spPr>
        <p:txBody>
          <a:bodyPr wrap="square">
            <a:spAutoFit/>
          </a:bodyPr>
          <a:lstStyle/>
          <a:p>
            <a:pPr algn="just"/>
            <a:r>
              <a:rPr lang="en-IN" b="1" dirty="0"/>
              <a:t>Precision Farming for Dry Seasons (Zaid):</a:t>
            </a:r>
            <a:r>
              <a:rPr lang="en-IN" dirty="0"/>
              <a:t> Develop specialized crop recommendation systems to suggest high-value, low-water-consuming crops specifically for dry periods. </a:t>
            </a:r>
          </a:p>
        </p:txBody>
      </p:sp>
      <p:sp>
        <p:nvSpPr>
          <p:cNvPr id="13" name="TextBox 12">
            <a:extLst>
              <a:ext uri="{FF2B5EF4-FFF2-40B4-BE49-F238E27FC236}">
                <a16:creationId xmlns:a16="http://schemas.microsoft.com/office/drawing/2014/main" id="{6C2CFBA4-F0AA-9531-A2DE-C3348014E3E8}"/>
              </a:ext>
            </a:extLst>
          </p:cNvPr>
          <p:cNvSpPr txBox="1"/>
          <p:nvPr/>
        </p:nvSpPr>
        <p:spPr>
          <a:xfrm>
            <a:off x="675951" y="3925758"/>
            <a:ext cx="8635195" cy="646331"/>
          </a:xfrm>
          <a:prstGeom prst="rect">
            <a:avLst/>
          </a:prstGeom>
          <a:noFill/>
        </p:spPr>
        <p:txBody>
          <a:bodyPr wrap="square">
            <a:spAutoFit/>
          </a:bodyPr>
          <a:lstStyle/>
          <a:p>
            <a:pPr algn="just"/>
            <a:r>
              <a:rPr lang="en-IN" b="1" dirty="0"/>
              <a:t>Economic &amp; Market Integration:</a:t>
            </a:r>
            <a:r>
              <a:rPr lang="en-IN" dirty="0"/>
              <a:t> Incorporate live market price APIs to help farmers time their crop harvests and sales for maximum profit margins. </a:t>
            </a:r>
          </a:p>
        </p:txBody>
      </p:sp>
      <p:sp>
        <p:nvSpPr>
          <p:cNvPr id="15" name="TextBox 14">
            <a:extLst>
              <a:ext uri="{FF2B5EF4-FFF2-40B4-BE49-F238E27FC236}">
                <a16:creationId xmlns:a16="http://schemas.microsoft.com/office/drawing/2014/main" id="{9CEEE1F4-AAC4-F5D7-B309-190FF9AA127F}"/>
              </a:ext>
            </a:extLst>
          </p:cNvPr>
          <p:cNvSpPr txBox="1"/>
          <p:nvPr/>
        </p:nvSpPr>
        <p:spPr>
          <a:xfrm>
            <a:off x="675950" y="4658216"/>
            <a:ext cx="8635195" cy="646331"/>
          </a:xfrm>
          <a:prstGeom prst="rect">
            <a:avLst/>
          </a:prstGeom>
          <a:noFill/>
        </p:spPr>
        <p:txBody>
          <a:bodyPr wrap="square">
            <a:spAutoFit/>
          </a:bodyPr>
          <a:lstStyle/>
          <a:p>
            <a:pPr algn="just"/>
            <a:r>
              <a:rPr lang="en-IN" b="1" dirty="0"/>
              <a:t>Geographic Expansion:</a:t>
            </a:r>
            <a:r>
              <a:rPr lang="en-IN" dirty="0"/>
              <a:t> Extend the analysis across more states and micro-climatic zones to build a nationwide seasonal agricultural advisory dashboard.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https://github.com/harithra-muthushanmugam/Seasonal-Agriculture-Performance-Analysis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4E14842-2726-7576-A714-85A7DA1322FD}"/>
              </a:ext>
            </a:extLst>
          </p:cNvPr>
          <p:cNvPicPr>
            <a:picLocks noChangeAspect="1"/>
          </p:cNvPicPr>
          <p:nvPr/>
        </p:nvPicPr>
        <p:blipFill>
          <a:blip r:embed="rId3"/>
          <a:stretch>
            <a:fillRect/>
          </a:stretch>
        </p:blipFill>
        <p:spPr>
          <a:xfrm>
            <a:off x="780079" y="1275372"/>
            <a:ext cx="8904695" cy="503242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932836"/>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388464" y="3071137"/>
            <a:ext cx="5561618" cy="1258356"/>
          </a:xfrm>
        </p:spPr>
        <p:txBody>
          <a:bodyPr>
            <a:normAutofit/>
          </a:bodyPr>
          <a:lstStyle/>
          <a:p>
            <a:r>
              <a:rPr lang="en-US" dirty="0"/>
              <a:t>Thank You for the valuable internship respected mam and sir!</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www.w3.org/XML/1998/namespace"/>
    <ds:schemaRef ds:uri="http://purl.org/dc/elements/1.1/"/>
    <ds:schemaRef ds:uri="http://schemas.openxmlformats.org/package/2006/metadata/core-properties"/>
    <ds:schemaRef ds:uri="http://schemas.microsoft.com/office/infopath/2007/PartnerControls"/>
    <ds:schemaRef ds:uri="http://schemas.microsoft.com/office/2006/metadata/properties"/>
    <ds:schemaRef ds:uri="http://schemas.microsoft.com/office/2006/documentManagement/types"/>
    <ds:schemaRef ds:uri="http://purl.org/dc/terms/"/>
    <ds:schemaRef ds:uri="16c05727-aa75-4e4a-9b5f-8a80a1165891"/>
    <ds:schemaRef ds:uri="71af3243-3dd4-4a8d-8c0d-dd76da1f02a5"/>
    <ds:schemaRef ds:uri="http://purl.org/dc/dcmitype/"/>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1416</TotalTime>
  <Words>708</Words>
  <Application>Microsoft Office PowerPoint</Application>
  <PresentationFormat>Widescreen</PresentationFormat>
  <Paragraphs>44</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harithrathelearner@outlook.com</cp:lastModifiedBy>
  <cp:revision>100</cp:revision>
  <dcterms:created xsi:type="dcterms:W3CDTF">2021-07-11T13:13:15Z</dcterms:created>
  <dcterms:modified xsi:type="dcterms:W3CDTF">2026-09-15T13:43:36Z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